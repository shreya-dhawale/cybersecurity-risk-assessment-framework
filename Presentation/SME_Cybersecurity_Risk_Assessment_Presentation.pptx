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SME Cybersecurity Risk Assessment</a:t>
            </a:r>
          </a:p>
          <a:p>
            <a:pPr>
              <a:spcBef>
                <a:spcPts val="1000"/>
              </a:spcBef>
              <a:defRPr sz="2100">
                <a:solidFill>
                  <a:srgbClr val="CFDCEF"/>
                </a:solidFill>
                <a:latin typeface="Aptos"/>
              </a:defRPr>
            </a:pPr>
            <a:r>
              <a:t>Risk Register • Risk Matrix •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97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Based on the NIST Cybersecurity Framework (CSF) 2.0</a:t>
            </a:r>
          </a:p>
          <a:p>
            <a:pPr>
              <a:defRPr sz="1400">
                <a:solidFill>
                  <a:srgbClr val="CFDCEF"/>
                </a:solidFill>
                <a:latin typeface="Aptos"/>
              </a:defRPr>
            </a:pPr>
            <a:r>
              <a:t>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Developed a practical cybersecurity risk assessment approach for a small or medium-sized business.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Identified important business assets, threats, vulnerabilities and existing controls.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Calculated risk using likelihood × impact and classified the resulting risk level.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Mapped mitigation activities to the NIST CSF 2.0 Protect function.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Applied the same assessment approach through two business-focused case studies.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NIST CSF 2.0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Framework used to structure the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926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Identify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Understand business assets, threats, vulnerabilities and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554480"/>
            <a:ext cx="2926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Protect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Select safeguards and mitigation measures.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54480"/>
            <a:ext cx="29260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Assess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Compare original risk with residual risk after mitigation.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 assessment focuses on practical risk reduction rather than only listing cybersecurity threats.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The completed register uses the NIST CSF Function field to connect risks with the selected response.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Risk Assessment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9659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1. Identify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Business area and asset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9659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2. Analyze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Threat and vulnerability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19659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3. Score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Likelihood ×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45920"/>
            <a:ext cx="19659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4. Treat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Recommended mitigation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645920"/>
            <a:ext cx="19659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5. Reassess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Residual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Likelihood and impact are scored on a 1–5 scale.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Risk score = Likelihood × Impact.</a:t>
            </a:r>
          </a:p>
          <a:p>
            <a:pPr>
              <a:spcAft>
                <a:spcPts val="13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Residual risk is recalculated after the proposed mitigation is applied.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Five representative cybersecurity risks were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0584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Risk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417320"/>
            <a:ext cx="246888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417320"/>
            <a:ext cx="123444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Likelihood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417320"/>
            <a:ext cx="109728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123444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Risk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41732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Risk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20240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R001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920240"/>
            <a:ext cx="2468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Phishing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92024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920240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92024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920240"/>
            <a:ext cx="1417320" cy="566928"/>
          </a:xfrm>
          <a:prstGeom prst="rect">
            <a:avLst/>
          </a:prstGeom>
          <a:solidFill>
            <a:srgbClr val="EF9A9A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487168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R002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2487168"/>
            <a:ext cx="2468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Ransomware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48716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487168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48716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2487168"/>
            <a:ext cx="1417320" cy="566928"/>
          </a:xfrm>
          <a:prstGeom prst="rect">
            <a:avLst/>
          </a:prstGeom>
          <a:solidFill>
            <a:srgbClr val="EF9A9A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054096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R003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054096"/>
            <a:ext cx="2468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Insider Threat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05409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3054096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054096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054096"/>
            <a:ext cx="1417320" cy="566928"/>
          </a:xfrm>
          <a:prstGeom prst="rect">
            <a:avLst/>
          </a:prstGeom>
          <a:solidFill>
            <a:srgbClr val="F5B75C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621024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R004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3621024"/>
            <a:ext cx="2468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Unauthorized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362102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3621024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62102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3621024"/>
            <a:ext cx="1417320" cy="566928"/>
          </a:xfrm>
          <a:prstGeom prst="rect">
            <a:avLst/>
          </a:prstGeom>
          <a:solidFill>
            <a:srgbClr val="F5B75C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187952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R005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4187952"/>
            <a:ext cx="2468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Data Breach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1879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4187952"/>
            <a:ext cx="10972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187952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79" y="4187952"/>
            <a:ext cx="1417320" cy="566928"/>
          </a:xfrm>
          <a:prstGeom prst="rect">
            <a:avLst/>
          </a:prstGeom>
          <a:solidFill>
            <a:srgbClr val="F5B75C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Likelihood and impact determine the risk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417320"/>
            <a:ext cx="114300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17320"/>
            <a:ext cx="114300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17320"/>
            <a:ext cx="114300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1417320"/>
            <a:ext cx="114300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417320"/>
            <a:ext cx="114300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Impact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20240"/>
            <a:ext cx="150876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Likelihood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92024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920240"/>
            <a:ext cx="1143000" cy="502920"/>
          </a:xfrm>
          <a:prstGeom prst="rect">
            <a:avLst/>
          </a:prstGeom>
          <a:solidFill>
            <a:srgbClr val="F5B7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1143000" cy="502920"/>
          </a:xfrm>
          <a:prstGeom prst="rect">
            <a:avLst/>
          </a:prstGeom>
          <a:solidFill>
            <a:srgbClr val="F5B7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920240"/>
            <a:ext cx="1143000" cy="502920"/>
          </a:xfrm>
          <a:prstGeom prst="rect">
            <a:avLst/>
          </a:prstGeom>
          <a:solidFill>
            <a:srgbClr val="EF9A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20240"/>
            <a:ext cx="1143000" cy="502920"/>
          </a:xfrm>
          <a:prstGeom prst="rect">
            <a:avLst/>
          </a:prstGeom>
          <a:solidFill>
            <a:srgbClr val="EF9A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423160"/>
            <a:ext cx="150876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Likelihood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42316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423160"/>
            <a:ext cx="1143000" cy="502920"/>
          </a:xfrm>
          <a:prstGeom prst="rect">
            <a:avLst/>
          </a:prstGeom>
          <a:solidFill>
            <a:srgbClr val="FAE1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423160"/>
            <a:ext cx="1143000" cy="502920"/>
          </a:xfrm>
          <a:prstGeom prst="rect">
            <a:avLst/>
          </a:prstGeom>
          <a:solidFill>
            <a:srgbClr val="F5B7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2423160"/>
            <a:ext cx="1143000" cy="502920"/>
          </a:xfrm>
          <a:prstGeom prst="rect">
            <a:avLst/>
          </a:prstGeom>
          <a:solidFill>
            <a:srgbClr val="EF9A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423160"/>
            <a:ext cx="1143000" cy="502920"/>
          </a:xfrm>
          <a:prstGeom prst="rect">
            <a:avLst/>
          </a:prstGeom>
          <a:solidFill>
            <a:srgbClr val="EF9A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926080"/>
            <a:ext cx="150876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Likelihood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92608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926080"/>
            <a:ext cx="1143000" cy="502920"/>
          </a:xfrm>
          <a:prstGeom prst="rect">
            <a:avLst/>
          </a:prstGeom>
          <a:solidFill>
            <a:srgbClr val="FAE1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926080"/>
            <a:ext cx="1143000" cy="502920"/>
          </a:xfrm>
          <a:prstGeom prst="rect">
            <a:avLst/>
          </a:prstGeom>
          <a:solidFill>
            <a:srgbClr val="FAE1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2926080"/>
            <a:ext cx="1143000" cy="502920"/>
          </a:xfrm>
          <a:prstGeom prst="rect">
            <a:avLst/>
          </a:prstGeom>
          <a:solidFill>
            <a:srgbClr val="F5B7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6080"/>
            <a:ext cx="1143000" cy="502920"/>
          </a:xfrm>
          <a:prstGeom prst="rect">
            <a:avLst/>
          </a:prstGeom>
          <a:solidFill>
            <a:srgbClr val="F5B7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429000"/>
            <a:ext cx="150876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Likelihood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42900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42900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429000"/>
            <a:ext cx="1143000" cy="502920"/>
          </a:xfrm>
          <a:prstGeom prst="rect">
            <a:avLst/>
          </a:prstGeom>
          <a:solidFill>
            <a:srgbClr val="FAE1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3429000"/>
            <a:ext cx="1143000" cy="502920"/>
          </a:xfrm>
          <a:prstGeom prst="rect">
            <a:avLst/>
          </a:prstGeom>
          <a:solidFill>
            <a:srgbClr val="FAE1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429000"/>
            <a:ext cx="1143000" cy="502920"/>
          </a:xfrm>
          <a:prstGeom prst="rect">
            <a:avLst/>
          </a:prstGeom>
          <a:solidFill>
            <a:srgbClr val="F5B7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3931920"/>
            <a:ext cx="1508760" cy="502920"/>
          </a:xfrm>
          <a:prstGeom prst="rect">
            <a:avLst/>
          </a:prstGeom>
          <a:solidFill>
            <a:srgbClr val="18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Likelihood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393192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393192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93192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93192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3931920"/>
            <a:ext cx="1143000" cy="502920"/>
          </a:xfrm>
          <a:prstGeom prst="rect">
            <a:avLst/>
          </a:prstGeom>
          <a:solidFill>
            <a:srgbClr val="A4D6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19456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Critical risks: 16–25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High risks: 10–15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Moderate risks: 5–9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Low risks: 1–4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Risk Treatment &amp; Residual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46120" cy="594360"/>
          </a:xfrm>
          <a:prstGeom prst="roundRect">
            <a:avLst/>
          </a:prstGeom>
          <a:solidFill>
            <a:srgbClr val="182640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Risk ID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246120" cy="594360"/>
          </a:xfrm>
          <a:prstGeom prst="roundRect">
            <a:avLst/>
          </a:prstGeom>
          <a:solidFill>
            <a:srgbClr val="182640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Risk Score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55280" y="1371600"/>
            <a:ext cx="3246120" cy="594360"/>
          </a:xfrm>
          <a:prstGeom prst="roundRect">
            <a:avLst/>
          </a:prstGeom>
          <a:solidFill>
            <a:srgbClr val="182640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Risk Level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R001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10312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20 → 8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210312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Critical → Moderate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R002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20 →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274320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Critical → Moderate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79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R003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383279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12 →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3383279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High → Moderate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R004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023359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12 →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4023359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High → 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R005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466344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15 →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4663440"/>
            <a:ext cx="32461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2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Aptos"/>
              </a:defRPr>
            </a:pPr>
            <a:r>
              <a:t>High → Moderate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Mitigations reduce likelihood and/or impact rather than eliminating risk completely.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The assessment therefore records both the original risk and the remaining residual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Case Study 1 — Retail / E-commerce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t>Scenario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 retail/e-commerce business was assessed using the same risk identification, scoring, treatment and residual-risk approach used in the SME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Business assets and operational dependencies were considered.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Cybersecurity threats and vulnerabilities were evaluated against existing controls.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Mitigation measures were selected to reduce the highest-priority risks.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The exercise demonstrated how the framework can be adapted to an online-facing business.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B17130-8B4A-F0E0-5746-8B2F9E5A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71" t="21281" r="25189" b="6461"/>
          <a:stretch>
            <a:fillRect/>
          </a:stretch>
        </p:blipFill>
        <p:spPr>
          <a:xfrm>
            <a:off x="6156960" y="960120"/>
            <a:ext cx="5212080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Case Study 2 — Professional Services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t>Scenario</a:t>
            </a:r>
          </a:p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 professional services business was assessed using the same structured cybersecurity risk assessment method, with attention to information, user access and business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Key assets and information-handling activities were considered.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Threats and vulnerabilities were linked to realistic business processes.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Controls and mitigation actions were selected according to the identified risks.</a:t>
            </a:r>
          </a:p>
          <a:p>
            <a:pPr>
              <a:spcAft>
                <a:spcPts val="13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The case study showed how the framework can be applied outside an e-commerce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5FB723-A512-63AA-FBC1-C625AD274E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20788" r="25403" b="5533"/>
          <a:stretch>
            <a:fillRect/>
          </a:stretch>
        </p:blipFill>
        <p:spPr>
          <a:xfrm>
            <a:off x="6022920" y="1007732"/>
            <a:ext cx="5906575" cy="53839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Key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Risk assessment is more useful when risks are tied to specific business assets and processes.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Likelihood and impact provide a simple way to prioritize cybersecurity risks.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Mitigation should focus first on higher-risk areas and practical controls.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Residual-risk assessment shows whether the proposed controls meaningfully reduce exposure.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The NIST CSF provides a structured way to communicate cybersecurity priorities.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82640"/>
                </a:solidFill>
                <a:latin typeface="Aptos"/>
              </a:defRPr>
            </a:pPr>
            <a:r>
              <a:rPr dirty="0"/>
              <a:t>Outcome</a:t>
            </a:r>
          </a:p>
          <a:p>
            <a:pPr algn="ctr"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The project produced a practical SME cybersecurity risk assessment consisting of a risk register, risk matrix, mitigation planning, residual-risk evaluation and two applied case studies.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947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The completed work demonstrates a repeatable approach for identifying, prioritizing and reducing cybersecurity risks.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The framework can be adapted to different types of small and medium-sized businesses.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640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NIST Cybersecurity Framework (CSF) 2.0 — NIST SP 1299 / CSWP 29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NIST Cybersecurity Framework 2.0: Small Business Quick-Start Guide — NIST SP 1300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NIST Cybersecurity Framework 2.0: Resource &amp; Overview Guide — NIST SP 1299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CISA / StopRansomware Guide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NIST Digital Identity Guidelines: Authentication and Authenticator Management — SP 800-63B</a:t>
            </a:r>
          </a:p>
          <a:p>
            <a:pPr>
              <a:spcAft>
                <a:spcPts val="13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NIST Cybersecurity Framework 2.0 for Small Business — NIST Small Business Cybersecurity Corner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SME Cybersecurity Risk Assessment Framework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874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 Dhawale</cp:lastModifiedBy>
  <cp:revision>2</cp:revision>
  <dcterms:created xsi:type="dcterms:W3CDTF">2013-01-27T09:14:16Z</dcterms:created>
  <dcterms:modified xsi:type="dcterms:W3CDTF">2026-08-24T17:45:29Z</dcterms:modified>
  <cp:category/>
</cp:coreProperties>
</file>